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Vendas por Mês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165</c:v>
                </c:pt>
                <c:pt idx="4">
                  <c:v>210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D4ED8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61000" y="1016000"/>
            <a:ext cx="1270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5400"/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10160000" cy="88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400" b="1" i="0" u="none">
                <a:solidFill>
                  <a:srgbClr val="FFFFFF"/>
                </a:solidFill>
              </a:rPr>
              <a:t>Teste da Ferramenta kimi-slides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1000" y="3556000"/>
            <a:ext cx="88900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 i="0" u="none">
                <a:solidFill>
                  <a:srgbClr val="BFDBFE"/>
                </a:solidFill>
              </a:rPr>
              <a:t>Validação do fluxo PPTD — criação, check e screenshot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91000" y="4330700"/>
            <a:ext cx="38100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921000" y="4826000"/>
            <a:ext cx="63500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 u="none">
                <a:solidFill>
                  <a:srgbClr val="93C5FD"/>
                </a:solidFill>
              </a:rPr>
              <a:t>Gerado automaticamente para fins de teste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 u="none">
                <a:solidFill>
                  <a:srgbClr val="2563EB"/>
                </a:solidFill>
              </a:rPr>
              <a:t>Teste de Texto 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5207000" cy="30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 u="none">
                <a:solidFill>
                  <a:srgbClr val="1F2937"/>
                </a:solidFill>
              </a:rPr>
              <a:t>Recursos de formatação</a:t>
            </a:r>
          </a:p>
          <a:p>
            <a:pPr>
              <a:spcBef>
                <a:spcPts val="800"/>
              </a:spcBef>
            </a:pPr>
            <a:r>
              <a:rPr sz="1600" b="0" i="0" u="none">
                <a:solidFill>
                  <a:srgbClr val="1F2937"/>
                </a:solidFill>
              </a:rPr>
              <a:t>Este slide testa </a:t>
            </a:r>
            <a:r>
              <a:rPr sz="1600" b="0" i="1" u="none">
                <a:solidFill>
                  <a:srgbClr val="1F2937"/>
                </a:solidFill>
              </a:rPr>
              <a:t>itálico</a:t>
            </a:r>
            <a:r>
              <a:rPr sz="1600" b="0" i="0" u="none">
                <a:solidFill>
                  <a:srgbClr val="1F2937"/>
                </a:solidFill>
              </a:rPr>
              <a:t>, </a:t>
            </a:r>
            <a:r>
              <a:rPr sz="1600" b="1" i="0" u="none">
                <a:solidFill>
                  <a:srgbClr val="1F2937"/>
                </a:solidFill>
              </a:rPr>
              <a:t>negrito</a:t>
            </a:r>
            <a:r>
              <a:rPr sz="1600" b="0" i="0" u="none">
                <a:solidFill>
                  <a:srgbClr val="1F2937"/>
                </a:solidFill>
              </a:rPr>
              <a:t>, </a:t>
            </a:r>
            <a:r>
              <a:rPr sz="1600" b="0" i="0" u="sng">
                <a:solidFill>
                  <a:srgbClr val="1F2937"/>
                </a:solidFill>
              </a:rPr>
              <a:t>sublinhado</a:t>
            </a:r>
            <a:r>
              <a:rPr sz="1600" b="0" i="0" u="none">
                <a:solidFill>
                  <a:srgbClr val="1F2937"/>
                </a:solidFill>
              </a:rPr>
              <a:t> e </a:t>
            </a:r>
            <a:r>
              <a:rPr sz="1600" b="0" i="0" u="none">
                <a:solidFill>
                  <a:srgbClr val="2563EB"/>
                </a:solidFill>
              </a:rPr>
              <a:t>cores do tema</a:t>
            </a:r>
            <a:r>
              <a:rPr sz="1600" b="0" i="0" u="none">
                <a:solidFill>
                  <a:srgbClr val="1F2937"/>
                </a:solidFill>
              </a:rPr>
              <a:t>.</a:t>
            </a:r>
          </a:p>
          <a:p>
            <a:pPr>
              <a:spcBef>
                <a:spcPts val="800"/>
              </a:spcBef>
            </a:pPr>
            <a:r>
              <a:rPr sz="1600" b="0" i="0" u="none">
                <a:solidFill>
                  <a:srgbClr val="1F2937"/>
                </a:solidFill>
              </a:rPr>
              <a:t>Também testa </a:t>
            </a:r>
            <a:r>
              <a:rPr sz="1600" b="1" i="0" u="none">
                <a:solidFill>
                  <a:srgbClr val="F59E0B"/>
                </a:solidFill>
              </a:rPr>
              <a:t>realce de fundo</a:t>
            </a:r>
            <a:r>
              <a:rPr sz="1600" b="0" i="0" u="none">
                <a:solidFill>
                  <a:srgbClr val="1F2937"/>
                </a:solidFill>
              </a:rPr>
              <a:t> e </a:t>
            </a:r>
            <a:r>
              <a:rPr sz="1600" b="0" i="0" u="sng">
                <a:solidFill>
                  <a:srgbClr val="2563EB"/>
                </a:solidFill>
                <a:hlinkClick r:id="rId2"/>
              </a:rPr>
              <a:t>hyperlinks</a:t>
            </a:r>
            <a:r>
              <a:rPr sz="1600" b="0" i="0" u="none">
                <a:solidFill>
                  <a:srgbClr val="1F2937"/>
                </a:solidFill>
              </a:rPr>
              <a:t>.</a:t>
            </a:r>
          </a:p>
          <a:p>
            <a:pPr>
              <a:spcBef>
                <a:spcPts val="800"/>
              </a:spcBef>
            </a:pPr>
            <a:r>
              <a:rPr sz="1600" b="0" i="0" u="none">
                <a:solidFill>
                  <a:srgbClr val="1F2937"/>
                </a:solidFill>
              </a:rPr>
              <a:t>Sobrescrito: E = mc</a:t>
            </a:r>
            <a:r>
              <a:rPr sz="1600" b="0" i="0" u="none" baseline="30000">
                <a:solidFill>
                  <a:srgbClr val="1F2937"/>
                </a:solidFill>
              </a:rPr>
              <a:t>2</a:t>
            </a:r>
            <a:r>
              <a:rPr sz="1600" b="0" i="0" u="none">
                <a:solidFill>
                  <a:srgbClr val="1F2937"/>
                </a:solidFill>
              </a:rPr>
              <a:t> e subscrito: H</a:t>
            </a:r>
            <a:r>
              <a:rPr sz="1600" b="0" i="0" u="none" baseline="-25000">
                <a:solidFill>
                  <a:srgbClr val="1F2937"/>
                </a:solidFill>
              </a:rPr>
              <a:t>2</a:t>
            </a:r>
            <a:r>
              <a:rPr sz="1600" b="0" i="0" u="none">
                <a:solidFill>
                  <a:srgbClr val="1F2937"/>
                </a:solidFill>
              </a:rPr>
              <a:t>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0" y="1524000"/>
            <a:ext cx="5080000" cy="30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 u="none">
                <a:solidFill>
                  <a:srgbClr val="1F2937"/>
                </a:solidFill>
              </a:rPr>
              <a:t>Listas</a:t>
            </a:r>
          </a:p>
          <a:p>
            <a:r>
              <a:rPr sz="1600" b="0" i="0" u="none">
                <a:solidFill>
                  <a:srgbClr val="1F2937"/>
                </a:solidFill>
              </a:rPr>
              <a:t>•  Item de lista não ordenada</a:t>
            </a:r>
          </a:p>
          <a:p>
            <a:r>
              <a:rPr sz="1600" b="0" i="0" u="none">
                <a:solidFill>
                  <a:srgbClr val="1F2937"/>
                </a:solidFill>
              </a:rPr>
              <a:t>•  Segundo item da lista</a:t>
            </a:r>
          </a:p>
          <a:p>
            <a:r>
              <a:rPr sz="1600" b="0" i="0" u="none">
                <a:solidFill>
                  <a:srgbClr val="1F2937"/>
                </a:solidFill>
              </a:rPr>
              <a:t>•  Terceiro item da lista</a:t>
            </a:r>
          </a:p>
          <a:p>
            <a:pPr>
              <a:spcBef>
                <a:spcPts val="1200"/>
              </a:spcBef>
            </a:pPr>
            <a:r>
              <a:rPr sz="1600" b="1" i="0" u="none">
                <a:solidFill>
                  <a:srgbClr val="1F2937"/>
                </a:solidFill>
              </a:rPr>
              <a:t>Lista ordenada</a:t>
            </a:r>
          </a:p>
          <a:p>
            <a:r>
              <a:rPr sz="1600" b="0" i="0" u="none">
                <a:solidFill>
                  <a:srgbClr val="1F2937"/>
                </a:solidFill>
              </a:rPr>
              <a:t>1. Primeiro passo</a:t>
            </a:r>
          </a:p>
          <a:p>
            <a:r>
              <a:rPr sz="1600" b="0" i="0" u="none">
                <a:solidFill>
                  <a:srgbClr val="1F2937"/>
                </a:solidFill>
              </a:rPr>
              <a:t>2. Segundo passo</a:t>
            </a:r>
          </a:p>
          <a:p>
            <a:r>
              <a:rPr sz="1600" b="0" i="0" u="none">
                <a:solidFill>
                  <a:srgbClr val="1F2937"/>
                </a:solidFill>
              </a:rPr>
              <a:t>3. Terceiro passo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6286500"/>
            <a:ext cx="10668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 u="none">
                <a:solidFill>
                  <a:srgbClr val="2563EB"/>
                </a:solidFill>
              </a:rPr>
              <a:t>Teste de Formas e Linhas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651000"/>
            <a:ext cx="2286000" cy="15240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6000" y="1651000"/>
            <a:ext cx="1524000" cy="1524000"/>
          </a:xfrm>
          <a:prstGeom prst="ellipse">
            <a:avLst/>
          </a:prstGeom>
          <a:gradFill rotWithShape="1">
            <a:gsLst>
              <a:gs pos="0">
                <a:srgbClr val="F59E0B"/>
              </a:gs>
              <a:gs pos="100000">
                <a:srgbClr val="EF444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5588000" y="1651000"/>
            <a:ext cx="1651000" cy="1524000"/>
          </a:xfrm>
          <a:prstGeom prst="star5">
            <a:avLst/>
          </a:prstGeom>
          <a:solidFill>
            <a:srgbClr val="F59E0B"/>
          </a:solidFill>
          <a:ln w="254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47000" y="1651000"/>
            <a:ext cx="1651000" cy="1524000"/>
          </a:xfrm>
          <a:prstGeom prst="diamond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9906000" y="1841500"/>
            <a:ext cx="1524000" cy="114300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762000" y="4064000"/>
            <a:ext cx="6350000" cy="1016000"/>
          </a:xfrm>
          <a:prstGeom prst="line">
            <a:avLst/>
          </a:prstGeom>
          <a:ln w="38100">
            <a:solidFill>
              <a:srgbClr val="2563EB"/>
            </a:solidFill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20000" y="4572000"/>
            <a:ext cx="3810000" cy="0"/>
          </a:xfrm>
          <a:prstGeom prst="line">
            <a:avLst/>
          </a:prstGeom>
          <a:ln w="25400">
            <a:solidFill>
              <a:srgbClr val="6B7280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 u="none">
                <a:solidFill>
                  <a:srgbClr val="6B7280"/>
                </a:solidFill>
              </a:rPr>
              <a:t>Formas com sombra, gradiente e bordas + linhas com setas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 u="none">
                <a:solidFill>
                  <a:srgbClr val="2563EB"/>
                </a:solidFill>
              </a:rPr>
              <a:t>Teste de Tabela e Ícones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1524000"/>
          <a:ext cx="660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600"/>
                <a:gridCol w="1981200"/>
                <a:gridCol w="19812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FFFFFF"/>
                          </a:solidFill>
                        </a:rPr>
                        <a:t>Recurso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FFFFFF"/>
                          </a:solidFill>
                        </a:rPr>
                        <a:t>Nota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Conversão PPTX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OK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9.5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Validação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Screenshot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Testando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8.5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Renderização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Pendente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1F2937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128000" y="1778000"/>
            <a:ext cx="6096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0" i="0" u="none">
                <a:solidFill>
                  <a:srgbClr val="10B981"/>
                </a:solidFill>
              </a:rPr>
              <a:t>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778000"/>
            <a:ext cx="6096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0" i="0" u="none">
                <a:solidFill>
                  <a:srgbClr val="F59E0B"/>
                </a:solidFill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0" y="1778000"/>
            <a:ext cx="6096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0" i="0" u="none">
                <a:solidFill>
                  <a:srgbClr val="2563EB"/>
                </a:solidFill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2794000"/>
            <a:ext cx="6096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0" i="0" u="none">
                <a:solidFill>
                  <a:srgbClr val="EF4444"/>
                </a:solidFill>
              </a:rPr>
              <a:t>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794000"/>
            <a:ext cx="6096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0" i="0" u="none">
                <a:solidFill>
                  <a:srgbClr val="F59E0B"/>
                </a:solidFill>
              </a:rP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0" y="2794000"/>
            <a:ext cx="6096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0" i="0" u="none">
                <a:solidFill>
                  <a:srgbClr val="0F172A"/>
                </a:solidFill>
              </a:rPr>
              <a:t>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4000" y="3810000"/>
            <a:ext cx="3556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 u="none">
                <a:solidFill>
                  <a:srgbClr val="6B7280"/>
                </a:solidFill>
              </a:rPr>
              <a:t>Ícones substituídos por glifos unicode (limitação da conversão)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 u="none">
                <a:solidFill>
                  <a:srgbClr val="2563EB"/>
                </a:solidFill>
              </a:rPr>
              <a:t>Teste de Gráfico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397000"/>
          <a:ext cx="7112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382000" y="1905000"/>
            <a:ext cx="3048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2159000"/>
            <a:ext cx="2540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 u="none">
                <a:solidFill>
                  <a:srgbClr val="1F2937"/>
                </a:solidFill>
              </a:rPr>
              <a:t>Resumo do teste</a:t>
            </a:r>
          </a:p>
          <a:p>
            <a:pPr>
              <a:spcBef>
                <a:spcPts val="800"/>
              </a:spcBef>
            </a:pPr>
            <a:r>
              <a:rPr sz="1500" b="0" i="0" u="none">
                <a:solidFill>
                  <a:srgbClr val="1F2937"/>
                </a:solidFill>
              </a:rPr>
              <a:t>5 slides gerados cobrindo texto, formas, linhas, tabela, ícones e gráfico.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